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8" r:id="rId15"/>
    <p:sldId id="349" r:id="rId16"/>
    <p:sldId id="350" r:id="rId17"/>
    <p:sldId id="351"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2" d="100"/>
          <a:sy n="82" d="100"/>
        </p:scale>
        <p:origin x="55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flipH="1">
            <a:off x="647700" y="3429000"/>
            <a:ext cx="4353506" cy="1147469"/>
          </a:xfrm>
        </p:spPr>
        <p:txBody>
          <a:bodyPr vert="horz" lIns="91440" tIns="45720" rIns="91440" bIns="45720" rtlCol="0" anchor="t">
            <a:noAutofit/>
          </a:bodyPr>
          <a:lstStyle/>
          <a:p>
            <a:pPr algn="r"/>
            <a:r>
              <a:rPr lang="en-US" sz="1600" b="0" dirty="0">
                <a:solidFill>
                  <a:schemeClr val="tx1"/>
                </a:solidFill>
              </a:rPr>
              <a:t>[Student Name – AKANKSHA SINGH </a:t>
            </a:r>
            <a:endParaRPr lang="en-IN" sz="1600" b="0" dirty="0">
              <a:solidFill>
                <a:schemeClr val="tx1"/>
              </a:solidFill>
            </a:endParaRPr>
          </a:p>
          <a:p>
            <a:pPr algn="r"/>
            <a:r>
              <a:rPr lang="en-US" sz="1600" b="0" dirty="0">
                <a:solidFill>
                  <a:schemeClr val="tx1"/>
                </a:solidFill>
              </a:rPr>
              <a:t>College Name- </a:t>
            </a:r>
            <a:r>
              <a:rPr lang="en-US" sz="1600" dirty="0"/>
              <a:t>Uttar Pradesh Rajarshi Tandon Open University </a:t>
            </a:r>
            <a:r>
              <a:rPr lang="en-US" sz="1600" b="0" dirty="0">
                <a:solidFill>
                  <a:schemeClr val="tx1"/>
                </a:solidFill>
              </a:rPr>
              <a:t>]</a:t>
            </a: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628900"/>
            <a:ext cx="9977195" cy="959298"/>
          </a:xfrm>
        </p:spPr>
        <p:txBody>
          <a:bodyPr>
            <a:normAutofit fontScale="90000"/>
          </a:bodyPr>
          <a:lstStyle/>
          <a:p>
            <a:r>
              <a:rPr lang="en-GB" sz="3200" dirty="0"/>
              <a:t>Project Title - </a:t>
            </a:r>
            <a:r>
              <a:rPr lang="en-US"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689239" cy="646331"/>
          </a:xfrm>
          <a:prstGeom prst="rect">
            <a:avLst/>
          </a:prstGeom>
          <a:noFill/>
        </p:spPr>
        <p:txBody>
          <a:bodyPr wrap="square" rtlCol="0">
            <a:spAutoFit/>
          </a:bodyPr>
          <a:lstStyle/>
          <a:p>
            <a:r>
              <a:rPr lang="en-US" b="1" dirty="0"/>
              <a:t>AICTE STU ID : (</a:t>
            </a:r>
            <a:r>
              <a:rPr lang="en-US" dirty="0"/>
              <a:t>STU683d7cbfe303c1748860095 </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940318" y="785161"/>
            <a:ext cx="8380964" cy="5287677"/>
          </a:xfrm>
        </p:spPr>
        <p:txBody>
          <a:bodyPr>
            <a:normAutofit/>
          </a:bodyPr>
          <a:lstStyle/>
          <a:p>
            <a:r>
              <a:rPr lang="en-GB" dirty="0"/>
              <a:t>Project Description</a:t>
            </a:r>
            <a:br>
              <a:rPr lang="en-GB" dirty="0"/>
            </a:br>
            <a:br>
              <a:rPr lang="en-GB" dirty="0"/>
            </a:br>
            <a:r>
              <a:rPr lang="en-US" sz="2000" b="0" dirty="0"/>
              <a:t>This project dives into the heart of seasonal agriculture to see what really drives farm success. By analyzing a comprehensive dataset across different crop cycles, we set out to pinpoint how weather, soil, and resource management impact the bottom line. Our goal wasn't just to look at numbers, but to find the hidden patterns—and the anomalies—that tell us why certain seasons flourish while others struggle.</a:t>
            </a:r>
            <a:br>
              <a:rPr lang="en-GB"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933061" y="1991360"/>
            <a:ext cx="8378890" cy="3990023"/>
          </a:xfrm>
        </p:spPr>
        <p:txBody>
          <a:bodyPr>
            <a:normAutofit/>
          </a:bodyPr>
          <a:lstStyle/>
          <a:p>
            <a:pPr lvl="0">
              <a:buFont typeface="Wingdings" panose="05000000000000000000" pitchFamily="2" charset="2"/>
              <a:buChar char="ü"/>
            </a:pPr>
            <a:r>
              <a:rPr lang="en-US" b="1" dirty="0"/>
              <a:t>The Modern Farmer:</a:t>
            </a:r>
            <a:r>
              <a:rPr lang="en-US" dirty="0"/>
              <a:t> Get clear, data-backed insights on which crops actually pay off in which season.</a:t>
            </a:r>
          </a:p>
          <a:p>
            <a:pPr lvl="0">
              <a:buFont typeface="Wingdings" panose="05000000000000000000" pitchFamily="2" charset="2"/>
              <a:buChar char="ü"/>
            </a:pPr>
            <a:r>
              <a:rPr lang="en-US" b="1" dirty="0"/>
              <a:t>Decision Makers &amp; Policy Leads:</a:t>
            </a:r>
            <a:r>
              <a:rPr lang="en-US" dirty="0"/>
              <a:t> Use hard evidence to steer subsidies and climate-resilience planning where they’re needed most.</a:t>
            </a:r>
          </a:p>
          <a:p>
            <a:pPr lvl="0">
              <a:buFont typeface="Wingdings" panose="05000000000000000000" pitchFamily="2" charset="2"/>
              <a:buChar char="ü"/>
            </a:pPr>
            <a:r>
              <a:rPr lang="en-US" b="1" dirty="0"/>
              <a:t>Researchers:</a:t>
            </a:r>
            <a:r>
              <a:rPr lang="en-US" dirty="0"/>
              <a:t> Fast-track the discovery of which crop varieties are standing up best to environmental stress.</a:t>
            </a:r>
          </a:p>
          <a:p>
            <a:pPr lvl="0">
              <a:buFont typeface="Wingdings" panose="05000000000000000000" pitchFamily="2" charset="2"/>
              <a:buChar char="ü"/>
            </a:pPr>
            <a:r>
              <a:rPr lang="en-US" b="1" dirty="0"/>
              <a:t>Agri-Tech &amp; Supply Chains:</a:t>
            </a:r>
            <a:r>
              <a:rPr lang="en-US" dirty="0"/>
              <a:t> Better forecasting means getting the right fertilizers and tools to the right place at the perfect time.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39551" y="1432560"/>
            <a:ext cx="6979297" cy="5243448"/>
          </a:xfrm>
        </p:spPr>
        <p:txBody>
          <a:bodyPr/>
          <a:lstStyle/>
          <a:p>
            <a:pPr marL="457200" lvl="1" indent="0">
              <a:lnSpc>
                <a:spcPct val="100000"/>
              </a:lnSpc>
              <a:buNone/>
            </a:pPr>
            <a:endParaRPr lang="en-US" dirty="0"/>
          </a:p>
          <a:p>
            <a:pPr lvl="1">
              <a:lnSpc>
                <a:spcPct val="100000"/>
              </a:lnSpc>
            </a:pPr>
            <a:endParaRPr lang="en-US" dirty="0"/>
          </a:p>
          <a:p>
            <a:pPr lvl="1">
              <a:lnSpc>
                <a:spcPct val="100000"/>
              </a:lnSpc>
              <a:buFont typeface="Wingdings" panose="05000000000000000000" pitchFamily="2" charset="2"/>
              <a:buChar char="Ø"/>
            </a:pPr>
            <a:r>
              <a:rPr lang="en-US" dirty="0"/>
              <a:t>We kept it lean and powerful, using </a:t>
            </a:r>
            <a:r>
              <a:rPr lang="en-US" b="1" dirty="0"/>
              <a:t>Python</a:t>
            </a:r>
            <a:r>
              <a:rPr lang="en-US" dirty="0"/>
              <a:t> as our engine. We leaned heavily on </a:t>
            </a:r>
            <a:r>
              <a:rPr lang="en-US" b="1" dirty="0"/>
              <a:t>Pandas</a:t>
            </a:r>
            <a:r>
              <a:rPr lang="en-US" dirty="0"/>
              <a:t> for the heavy lifting of data cleaning and crunching, while </a:t>
            </a:r>
            <a:r>
              <a:rPr lang="en-US" b="1" dirty="0"/>
              <a:t>Matplotlib</a:t>
            </a:r>
            <a:r>
              <a:rPr lang="en-US" dirty="0"/>
              <a:t> and </a:t>
            </a:r>
            <a:r>
              <a:rPr lang="en-US" b="1" dirty="0"/>
              <a:t>Seaborn</a:t>
            </a:r>
            <a:r>
              <a:rPr lang="en-US" dirty="0"/>
              <a:t> were our go-to tools for turning raw numbers into clear, visual stories.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A873A85C-E210-FCD9-F782-A9A369BE82EB}"/>
              </a:ext>
            </a:extLst>
          </p:cNvPr>
          <p:cNvSpPr txBox="1"/>
          <p:nvPr/>
        </p:nvSpPr>
        <p:spPr>
          <a:xfrm>
            <a:off x="979715" y="2174034"/>
            <a:ext cx="8173616" cy="3170099"/>
          </a:xfrm>
          <a:prstGeom prst="rect">
            <a:avLst/>
          </a:prstGeom>
          <a:noFill/>
        </p:spPr>
        <p:txBody>
          <a:bodyPr wrap="square">
            <a:spAutoFit/>
          </a:bodyPr>
          <a:lstStyle/>
          <a:p>
            <a:pPr marL="342900" lvl="0" indent="-342900" algn="l">
              <a:spcBef>
                <a:spcPts val="600"/>
              </a:spcBef>
              <a:spcAft>
                <a:spcPts val="600"/>
              </a:spcAft>
              <a:buFont typeface="Wingdings" panose="05000000000000000000" pitchFamily="2" charset="2"/>
              <a:buChar char="q"/>
            </a:pPr>
            <a:r>
              <a:rPr lang="en-US" sz="2000" b="1" i="0" dirty="0">
                <a:solidFill>
                  <a:schemeClr val="tx1"/>
                </a:solidFill>
                <a:effectLst/>
                <a:latin typeface="+mn-lt"/>
              </a:rPr>
              <a:t>Kharif is King:</a:t>
            </a:r>
            <a:r>
              <a:rPr lang="en-US" sz="2000" b="0" i="0" dirty="0">
                <a:solidFill>
                  <a:schemeClr val="tx1"/>
                </a:solidFill>
                <a:effectLst/>
                <a:latin typeface="+mn-lt"/>
              </a:rPr>
              <a:t> Our data shows Kharif is the heavy hitter for both yield and profit, though it comes with the highest risk of pests and disease.</a:t>
            </a:r>
          </a:p>
          <a:p>
            <a:pPr marL="342900" lvl="0" indent="-342900" algn="l">
              <a:spcBef>
                <a:spcPts val="600"/>
              </a:spcBef>
              <a:spcAft>
                <a:spcPts val="600"/>
              </a:spcAft>
              <a:buFont typeface="Wingdings" panose="05000000000000000000" pitchFamily="2" charset="2"/>
              <a:buChar char="q"/>
            </a:pPr>
            <a:r>
              <a:rPr lang="en-US" sz="2000" b="1" i="0" dirty="0">
                <a:solidFill>
                  <a:schemeClr val="tx1"/>
                </a:solidFill>
                <a:effectLst/>
                <a:latin typeface="+mn-lt"/>
              </a:rPr>
              <a:t>The Zaid Challenge:</a:t>
            </a:r>
            <a:r>
              <a:rPr lang="en-US" sz="2000" b="0" i="0" dirty="0">
                <a:solidFill>
                  <a:schemeClr val="tx1"/>
                </a:solidFill>
                <a:effectLst/>
                <a:latin typeface="+mn-lt"/>
              </a:rPr>
              <a:t> While Zaid sees plenty of sun, it’s a tough season for the wallet, often showing thinner margins or even losses on average.</a:t>
            </a:r>
          </a:p>
          <a:p>
            <a:pPr marL="342900" lvl="0" indent="-342900" algn="l">
              <a:spcBef>
                <a:spcPts val="600"/>
              </a:spcBef>
              <a:spcAft>
                <a:spcPts val="600"/>
              </a:spcAft>
              <a:buFont typeface="Wingdings" panose="05000000000000000000" pitchFamily="2" charset="2"/>
              <a:buChar char="q"/>
            </a:pPr>
            <a:r>
              <a:rPr lang="en-US" sz="2000" b="1" i="0" dirty="0">
                <a:solidFill>
                  <a:schemeClr val="tx1"/>
                </a:solidFill>
                <a:effectLst/>
                <a:latin typeface="+mn-lt"/>
              </a:rPr>
              <a:t>It’s All Connected:</a:t>
            </a:r>
            <a:r>
              <a:rPr lang="en-US" sz="2000" b="0" i="0" dirty="0">
                <a:solidFill>
                  <a:schemeClr val="tx1"/>
                </a:solidFill>
                <a:effectLst/>
                <a:latin typeface="+mn-lt"/>
              </a:rPr>
              <a:t> We found significant links between rainfall and profit margins, proving just how much the 'economic weather' follows the actual weather.</a:t>
            </a:r>
            <a:endParaRPr lang="en-US" sz="2000" b="0" i="0" dirty="0">
              <a:solidFill>
                <a:srgbClr val="E3E3E3"/>
              </a:solidFill>
              <a:effectLst/>
              <a:latin typeface="Google Sans Text"/>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3C9A892-222C-61E9-5E40-18E1EE9DF6CB}"/>
              </a:ext>
            </a:extLst>
          </p:cNvPr>
          <p:cNvPicPr>
            <a:picLocks noChangeAspect="1"/>
          </p:cNvPicPr>
          <p:nvPr/>
        </p:nvPicPr>
        <p:blipFill>
          <a:blip r:embed="rId3"/>
          <a:stretch>
            <a:fillRect/>
          </a:stretch>
        </p:blipFill>
        <p:spPr>
          <a:xfrm>
            <a:off x="938403" y="1416202"/>
            <a:ext cx="10211679" cy="505571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BFBB071-865C-7F45-AB9B-2EE7AD0D16E0}"/>
              </a:ext>
            </a:extLst>
          </p:cNvPr>
          <p:cNvPicPr>
            <a:picLocks noChangeAspect="1"/>
          </p:cNvPicPr>
          <p:nvPr/>
        </p:nvPicPr>
        <p:blipFill>
          <a:blip r:embed="rId3"/>
          <a:stretch>
            <a:fillRect/>
          </a:stretch>
        </p:blipFill>
        <p:spPr>
          <a:xfrm>
            <a:off x="821094" y="1275371"/>
            <a:ext cx="10506269" cy="484551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9993425-67AD-9518-9DA4-C55F22D9C00D}"/>
              </a:ext>
            </a:extLst>
          </p:cNvPr>
          <p:cNvPicPr>
            <a:picLocks noChangeAspect="1"/>
          </p:cNvPicPr>
          <p:nvPr/>
        </p:nvPicPr>
        <p:blipFill>
          <a:blip r:embed="rId3"/>
          <a:stretch>
            <a:fillRect/>
          </a:stretch>
        </p:blipFill>
        <p:spPr>
          <a:xfrm>
            <a:off x="963485" y="1500972"/>
            <a:ext cx="10373210" cy="452660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3373676-5734-C7EE-FEFF-BDA279047BCE}"/>
              </a:ext>
            </a:extLst>
          </p:cNvPr>
          <p:cNvPicPr>
            <a:picLocks noChangeAspect="1"/>
          </p:cNvPicPr>
          <p:nvPr/>
        </p:nvPicPr>
        <p:blipFill>
          <a:blip r:embed="rId3"/>
          <a:stretch>
            <a:fillRect/>
          </a:stretch>
        </p:blipFill>
        <p:spPr>
          <a:xfrm>
            <a:off x="1045029" y="1535265"/>
            <a:ext cx="10077061" cy="438967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C9-EBCB-DA26-F905-79F4F24279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FAE4F6-1DA1-5CD9-AF9B-1451E5EA1F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F909305-022E-D2CB-6B8C-340B59B34AC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9C441D8-53B4-475F-E3A8-B4F01A8F341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48D46BF-782D-4C0A-2606-E6C37F5D3F5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BBD4212-7AD8-B09F-F368-4CC5F0D8C36D}"/>
              </a:ext>
            </a:extLst>
          </p:cNvPr>
          <p:cNvPicPr>
            <a:picLocks noChangeAspect="1"/>
          </p:cNvPicPr>
          <p:nvPr/>
        </p:nvPicPr>
        <p:blipFill>
          <a:blip r:embed="rId3"/>
          <a:stretch>
            <a:fillRect/>
          </a:stretch>
        </p:blipFill>
        <p:spPr>
          <a:xfrm>
            <a:off x="1184988" y="1275372"/>
            <a:ext cx="10086392" cy="4724212"/>
          </a:xfrm>
          <a:prstGeom prst="rect">
            <a:avLst/>
          </a:prstGeom>
        </p:spPr>
      </p:pic>
    </p:spTree>
    <p:extLst>
      <p:ext uri="{BB962C8B-B14F-4D97-AF65-F5344CB8AC3E}">
        <p14:creationId xmlns:p14="http://schemas.microsoft.com/office/powerpoint/2010/main" val="222451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E3C19-D154-B451-5D1E-2200445EE3C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6B6F16-AB7B-7202-81F9-C7685785510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45CA786-DA35-D649-A8C6-AA644F2E59B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A2F002B-7E74-FDC3-35EA-6D15F989C80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5915C3F-1662-3D58-9617-1AD6A8BBD04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72EA67C-3B62-2879-83D4-37E7D483D856}"/>
              </a:ext>
            </a:extLst>
          </p:cNvPr>
          <p:cNvPicPr>
            <a:picLocks noChangeAspect="1"/>
          </p:cNvPicPr>
          <p:nvPr/>
        </p:nvPicPr>
        <p:blipFill>
          <a:blip r:embed="rId3"/>
          <a:stretch>
            <a:fillRect/>
          </a:stretch>
        </p:blipFill>
        <p:spPr>
          <a:xfrm>
            <a:off x="839754" y="1148596"/>
            <a:ext cx="10067731" cy="5061704"/>
          </a:xfrm>
          <a:prstGeom prst="rect">
            <a:avLst/>
          </a:prstGeom>
        </p:spPr>
      </p:pic>
    </p:spTree>
    <p:extLst>
      <p:ext uri="{BB962C8B-B14F-4D97-AF65-F5344CB8AC3E}">
        <p14:creationId xmlns:p14="http://schemas.microsoft.com/office/powerpoint/2010/main" val="280215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5CC2-00BB-131C-8EC1-75E8D94A59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7BBFDB-79EF-6FC5-DCA0-69E0D6454E8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22CD955-7FEA-DC01-5FB7-B836805C63C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5504760-F973-F93A-D6F0-788F2FE7411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F4CB47B-BD60-35F6-D86E-6DBF0BAE4A5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ADDEF70-5E5E-83DA-1878-0A757BC707FA}"/>
              </a:ext>
            </a:extLst>
          </p:cNvPr>
          <p:cNvPicPr>
            <a:picLocks noChangeAspect="1"/>
          </p:cNvPicPr>
          <p:nvPr/>
        </p:nvPicPr>
        <p:blipFill>
          <a:blip r:embed="rId3"/>
          <a:stretch>
            <a:fillRect/>
          </a:stretch>
        </p:blipFill>
        <p:spPr>
          <a:xfrm>
            <a:off x="840993" y="1077457"/>
            <a:ext cx="9198746" cy="5015433"/>
          </a:xfrm>
          <a:prstGeom prst="rect">
            <a:avLst/>
          </a:prstGeom>
        </p:spPr>
      </p:pic>
    </p:spTree>
    <p:extLst>
      <p:ext uri="{BB962C8B-B14F-4D97-AF65-F5344CB8AC3E}">
        <p14:creationId xmlns:p14="http://schemas.microsoft.com/office/powerpoint/2010/main" val="251912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CA903-C65E-5E60-F5F0-7F130EB466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227FD8F-129B-7DF3-1E92-989E4ECB78A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CDACF46-CEA3-B23F-EB73-CDAA42CB759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5B06588-7E8F-EF29-8776-7F5AA8135ED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1E9428E-D737-14DC-38B9-05178E7F5F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312C36B-5408-8AA8-2671-7DA38991E921}"/>
              </a:ext>
            </a:extLst>
          </p:cNvPr>
          <p:cNvPicPr>
            <a:picLocks noChangeAspect="1"/>
          </p:cNvPicPr>
          <p:nvPr/>
        </p:nvPicPr>
        <p:blipFill>
          <a:blip r:embed="rId3"/>
          <a:stretch>
            <a:fillRect/>
          </a:stretch>
        </p:blipFill>
        <p:spPr>
          <a:xfrm>
            <a:off x="1116745" y="1277495"/>
            <a:ext cx="9604128" cy="4824725"/>
          </a:xfrm>
          <a:prstGeom prst="rect">
            <a:avLst/>
          </a:prstGeom>
        </p:spPr>
      </p:pic>
    </p:spTree>
    <p:extLst>
      <p:ext uri="{BB962C8B-B14F-4D97-AF65-F5344CB8AC3E}">
        <p14:creationId xmlns:p14="http://schemas.microsoft.com/office/powerpoint/2010/main" val="262694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A1CEA9F-30AE-0AF6-47C7-EE4EFDB08A02}"/>
              </a:ext>
            </a:extLst>
          </p:cNvPr>
          <p:cNvSpPr txBox="1"/>
          <p:nvPr/>
        </p:nvSpPr>
        <p:spPr>
          <a:xfrm>
            <a:off x="989045" y="2286097"/>
            <a:ext cx="7623110" cy="2554545"/>
          </a:xfrm>
          <a:prstGeom prst="rect">
            <a:avLst/>
          </a:prstGeom>
          <a:noFill/>
        </p:spPr>
        <p:txBody>
          <a:bodyPr wrap="square">
            <a:spAutoFit/>
          </a:bodyPr>
          <a:lstStyle/>
          <a:p>
            <a:pPr marL="342900" lvl="0" indent="-342900" algn="l">
              <a:spcBef>
                <a:spcPts val="600"/>
              </a:spcBef>
              <a:spcAft>
                <a:spcPts val="600"/>
              </a:spcAft>
              <a:buFont typeface="Wingdings" panose="05000000000000000000" pitchFamily="2" charset="2"/>
              <a:buChar char="Ø"/>
            </a:pPr>
            <a:r>
              <a:rPr lang="en-US" sz="2000" b="1" i="0" dirty="0">
                <a:solidFill>
                  <a:schemeClr val="tx1"/>
                </a:solidFill>
                <a:effectLst/>
                <a:latin typeface="+mn-lt"/>
              </a:rPr>
              <a:t>Predictive Forecasting:</a:t>
            </a:r>
            <a:r>
              <a:rPr lang="en-US" sz="2000" b="0" i="0" dirty="0">
                <a:solidFill>
                  <a:schemeClr val="tx1"/>
                </a:solidFill>
                <a:effectLst/>
                <a:latin typeface="+mn-lt"/>
              </a:rPr>
              <a:t> Moving from 'what happened' to 'what will happen' using machine learning.</a:t>
            </a:r>
          </a:p>
          <a:p>
            <a:pPr marL="342900" lvl="0" indent="-342900" algn="l">
              <a:spcBef>
                <a:spcPts val="600"/>
              </a:spcBef>
              <a:spcAft>
                <a:spcPts val="600"/>
              </a:spcAft>
              <a:buFont typeface="Wingdings" panose="05000000000000000000" pitchFamily="2" charset="2"/>
              <a:buChar char="Ø"/>
            </a:pPr>
            <a:r>
              <a:rPr lang="en-US" sz="2000" b="1" i="0" dirty="0">
                <a:solidFill>
                  <a:schemeClr val="tx1"/>
                </a:solidFill>
                <a:effectLst/>
                <a:latin typeface="+mn-lt"/>
              </a:rPr>
              <a:t>Smart Recommendations:</a:t>
            </a:r>
            <a:r>
              <a:rPr lang="en-US" sz="2000" b="0" i="0" dirty="0">
                <a:solidFill>
                  <a:schemeClr val="tx1"/>
                </a:solidFill>
                <a:effectLst/>
                <a:latin typeface="+mn-lt"/>
              </a:rPr>
              <a:t> Building a system that tells a farmer exactly how much water or fertilizer to use based on live data.</a:t>
            </a:r>
          </a:p>
          <a:p>
            <a:pPr marL="342900" lvl="0" indent="-342900" algn="l">
              <a:spcBef>
                <a:spcPts val="600"/>
              </a:spcBef>
              <a:spcAft>
                <a:spcPts val="600"/>
              </a:spcAft>
              <a:buFont typeface="Wingdings" panose="05000000000000000000" pitchFamily="2" charset="2"/>
              <a:buChar char="Ø"/>
            </a:pPr>
            <a:r>
              <a:rPr lang="en-US" sz="2000" b="1" i="0" dirty="0">
                <a:solidFill>
                  <a:schemeClr val="tx1"/>
                </a:solidFill>
                <a:effectLst/>
                <a:latin typeface="+mn-lt"/>
              </a:rPr>
              <a:t>Interactive Tools:</a:t>
            </a:r>
            <a:r>
              <a:rPr lang="en-US" sz="2000" b="0" i="0" dirty="0">
                <a:solidFill>
                  <a:schemeClr val="tx1"/>
                </a:solidFill>
                <a:effectLst/>
                <a:latin typeface="+mn-lt"/>
              </a:rPr>
              <a:t> Turning these static charts into a live dashboard where anyone can explore their own region’s data.</a:t>
            </a:r>
            <a:endParaRPr lang="en-US" sz="2000" b="0" i="0" dirty="0">
              <a:solidFill>
                <a:srgbClr val="E3E3E3"/>
              </a:solidFill>
              <a:effectLst/>
              <a:latin typeface="Google Sans Tex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955876" y="2628900"/>
            <a:ext cx="7232875" cy="369332"/>
          </a:xfrm>
          <a:prstGeom prst="rect">
            <a:avLst/>
          </a:prstGeom>
          <a:noFill/>
        </p:spPr>
        <p:txBody>
          <a:bodyPr wrap="square">
            <a:spAutoFit/>
          </a:bodyPr>
          <a:lstStyle/>
          <a:p>
            <a:r>
              <a:rPr lang="en-US" dirty="0"/>
              <a:t>https://github.com/akanksha726/agri-seasonal-analytics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8AEC9DA-DD14-1BBF-7ED7-0852F504FA4F}"/>
              </a:ext>
            </a:extLst>
          </p:cNvPr>
          <p:cNvPicPr>
            <a:picLocks noChangeAspect="1"/>
          </p:cNvPicPr>
          <p:nvPr/>
        </p:nvPicPr>
        <p:blipFill>
          <a:blip r:embed="rId3"/>
          <a:stretch>
            <a:fillRect/>
          </a:stretch>
        </p:blipFill>
        <p:spPr>
          <a:xfrm>
            <a:off x="1464905" y="1455575"/>
            <a:ext cx="8966719" cy="46746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556588" y="2556588"/>
            <a:ext cx="5896947" cy="2743200"/>
          </a:xfrm>
        </p:spPr>
        <p:txBody>
          <a:bodyPr>
            <a:normAutofit/>
          </a:bodyPr>
          <a:lstStyle/>
          <a:p>
            <a:pPr algn="just"/>
            <a:r>
              <a:rPr lang="en-US" sz="2800" b="0" dirty="0"/>
              <a:t>Thank you for your time and attention. I hope these insights provide a valuable understanding.</a:t>
            </a:r>
            <a:endParaRPr lang="en-IN" sz="28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1505</TotalTime>
  <Words>537</Words>
  <Application>Microsoft Office PowerPoint</Application>
  <PresentationFormat>Widescreen</PresentationFormat>
  <Paragraphs>40</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Google Sans Text</vt:lpstr>
      <vt:lpstr>Trebuchet MS</vt:lpstr>
      <vt:lpstr>Wingdings</vt:lpstr>
      <vt:lpstr>Wingdings 3</vt:lpstr>
      <vt:lpstr>Facet</vt:lpstr>
      <vt:lpstr>Project Title - Seasonal Agriculture Performance Analysis </vt:lpstr>
      <vt:lpstr>PROBLEM  STATEMENT</vt:lpstr>
      <vt:lpstr>Project Description  This project dives into the heart of seasonal agriculture to see what really drives farm success. By analyzing a comprehensive dataset across different crop cycles, we set out to pinpoint how weather, soil, and resource management impact the bottom line. Our goal wasn't just to look at numbers, but to find the hidden patterns—and the anomalies—that tell us why certain seasons flourish while others struggle.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Akanksha Singh</cp:lastModifiedBy>
  <cp:revision>100</cp:revision>
  <dcterms:created xsi:type="dcterms:W3CDTF">2021-07-11T13:13:15Z</dcterms:created>
  <dcterms:modified xsi:type="dcterms:W3CDTF">2026-09-08T19:07:51Z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